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0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69680" y="640080"/>
            <a:ext cx="2468880" cy="1097280"/>
          </a:xfrm>
          <a:prstGeom prst="roundRect">
            <a:avLst/>
          </a:prstGeom>
          <a:solidFill>
            <a:srgbClr val="7C4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75520" y="2011680"/>
            <a:ext cx="1463040" cy="1463040"/>
          </a:xfrm>
          <a:prstGeom prst="roundRect">
            <a:avLst/>
          </a:prstGeom>
          <a:solidFill>
            <a:srgbClr val="EDA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46720" y="3931920"/>
            <a:ext cx="2834640" cy="1005840"/>
          </a:xfrm>
          <a:prstGeom prst="roundRect">
            <a:avLst/>
          </a:prstGeom>
          <a:solidFill>
            <a:srgbClr val="4B8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509760" y="5120640"/>
            <a:ext cx="1920240" cy="640080"/>
          </a:xfrm>
          <a:prstGeom prst="roundRect">
            <a:avLst/>
          </a:prstGeom>
          <a:solidFill>
            <a:srgbClr val="48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7498079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EDABD6"/>
                </a:solidFill>
                <a:latin typeface="Aptos"/>
              </a:rPr>
              <a:t>POWER BI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7863840" cy="1417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E-Commerce Sales &amp;
Customer Behaviour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6766560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0">
                <a:solidFill>
                  <a:srgbClr val="E5DEF1"/>
                </a:solidFill>
                <a:latin typeface="Aptos"/>
              </a:rPr>
              <a:t>An interactive dashboard to explore sales performance,
customer patterns, product categories and shopping devices.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12080"/>
            <a:ext cx="612648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Prepared by: Prstishtha Jaiswal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69280"/>
            <a:ext cx="612648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1">
                <a:solidFill>
                  <a:srgbClr val="EDABD6"/>
                </a:solidFill>
                <a:latin typeface="Aptos"/>
              </a:rPr>
              <a:t>Tool: Microsoft Power BI Desktop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4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2B204C"/>
                </a:solidFill>
                <a:latin typeface="Aptos"/>
              </a:rP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100" b="0">
                <a:solidFill>
                  <a:srgbClr val="6F677D"/>
                </a:solidFill>
                <a:latin typeface="Aptos"/>
              </a:rPr>
              <a:t>Purpose, scope and business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F677D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12064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7C4DB4"/>
                </a:solidFill>
                <a:latin typeface="Aptos"/>
              </a:rPr>
              <a:t>PROJECT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303520" cy="10515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200" b="1">
                <a:solidFill>
                  <a:srgbClr val="2B204C"/>
                </a:solidFill>
                <a:latin typeface="Aptos"/>
              </a:rPr>
              <a:t>To turn e-commerce transaction data into clear visual insights that support better business decisions.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17320"/>
            <a:ext cx="493776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7C4DB4"/>
                </a:solidFill>
                <a:latin typeface="Aptos"/>
              </a:rPr>
              <a:t>KEY QUESTIONS</a:t>
            </a:r>
          </a:p>
        </p:txBody>
      </p:sp>
      <p:sp>
        <p:nvSpPr>
          <p:cNvPr id="9" name="Oval 8"/>
          <p:cNvSpPr/>
          <p:nvPr/>
        </p:nvSpPr>
        <p:spPr>
          <a:xfrm>
            <a:off x="6355080" y="2029967"/>
            <a:ext cx="109728" cy="109728"/>
          </a:xfrm>
          <a:prstGeom prst="ellipse">
            <a:avLst/>
          </a:prstGeom>
          <a:solidFill>
            <a:srgbClr val="7C4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74536" y="1874519"/>
            <a:ext cx="4901183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0">
                <a:solidFill>
                  <a:srgbClr val="302B3A"/>
                </a:solidFill>
                <a:latin typeface="Aptos"/>
              </a:rPr>
              <a:t>How do sales change over time?</a:t>
            </a:r>
          </a:p>
        </p:txBody>
      </p:sp>
      <p:sp>
        <p:nvSpPr>
          <p:cNvPr id="11" name="Oval 10"/>
          <p:cNvSpPr/>
          <p:nvPr/>
        </p:nvSpPr>
        <p:spPr>
          <a:xfrm>
            <a:off x="6355080" y="2761487"/>
            <a:ext cx="109728" cy="109728"/>
          </a:xfrm>
          <a:prstGeom prst="ellipse">
            <a:avLst/>
          </a:prstGeom>
          <a:solidFill>
            <a:srgbClr val="4B8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4536" y="2606039"/>
            <a:ext cx="4901183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0">
                <a:solidFill>
                  <a:srgbClr val="302B3A"/>
                </a:solidFill>
                <a:latin typeface="Aptos"/>
              </a:rPr>
              <a:t>Which product categories generate the most sales?</a:t>
            </a:r>
          </a:p>
        </p:txBody>
      </p:sp>
      <p:sp>
        <p:nvSpPr>
          <p:cNvPr id="13" name="Oval 12"/>
          <p:cNvSpPr/>
          <p:nvPr/>
        </p:nvSpPr>
        <p:spPr>
          <a:xfrm>
            <a:off x="6355080" y="3493008"/>
            <a:ext cx="109728" cy="109728"/>
          </a:xfrm>
          <a:prstGeom prst="ellipse">
            <a:avLst/>
          </a:prstGeom>
          <a:solidFill>
            <a:srgbClr val="48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4536" y="3337560"/>
            <a:ext cx="4901183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0">
                <a:solidFill>
                  <a:srgbClr val="302B3A"/>
                </a:solidFill>
                <a:latin typeface="Aptos"/>
              </a:rPr>
              <a:t>Which cities contribute most to sales?</a:t>
            </a:r>
          </a:p>
        </p:txBody>
      </p:sp>
      <p:sp>
        <p:nvSpPr>
          <p:cNvPr id="15" name="Oval 14"/>
          <p:cNvSpPr/>
          <p:nvPr/>
        </p:nvSpPr>
        <p:spPr>
          <a:xfrm>
            <a:off x="6355080" y="4224528"/>
            <a:ext cx="109728" cy="109728"/>
          </a:xfrm>
          <a:prstGeom prst="ellipse">
            <a:avLst/>
          </a:prstGeom>
          <a:solidFill>
            <a:srgbClr val="F6B0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74536" y="4069080"/>
            <a:ext cx="4901183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0">
                <a:solidFill>
                  <a:srgbClr val="302B3A"/>
                </a:solidFill>
                <a:latin typeface="Aptos"/>
              </a:rPr>
              <a:t>How are orders distributed across devices?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349240"/>
            <a:ext cx="10789920" cy="685800"/>
          </a:xfrm>
          <a:prstGeom prst="roundRect">
            <a:avLst/>
          </a:prstGeom>
          <a:solidFill>
            <a:srgbClr val="F1E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468112"/>
            <a:ext cx="1033272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2B204C"/>
                </a:solidFill>
                <a:latin typeface="Aptos"/>
              </a:rPr>
              <a:t>Outcome: a single-page dashboard with KPIs, charts and interactive filters.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4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2B204C"/>
                </a:solidFill>
                <a:latin typeface="Aptos"/>
              </a:rPr>
              <a:t>2. Dataset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100" b="0">
                <a:solidFill>
                  <a:srgbClr val="6F677D"/>
                </a:solidFill>
                <a:latin typeface="Aptos"/>
              </a:rPr>
              <a:t>A practical overview of the data and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F677D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429000" cy="338328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7C4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73351"/>
            <a:ext cx="306324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7C4DB4"/>
                </a:solidFill>
                <a:latin typeface="Aptos"/>
              </a:rPr>
              <a:t>DATASET</a:t>
            </a:r>
          </a:p>
        </p:txBody>
      </p:sp>
      <p:sp>
        <p:nvSpPr>
          <p:cNvPr id="8" name="Oval 7"/>
          <p:cNvSpPr/>
          <p:nvPr/>
        </p:nvSpPr>
        <p:spPr>
          <a:xfrm>
            <a:off x="850392" y="2395728"/>
            <a:ext cx="109728" cy="109728"/>
          </a:xfrm>
          <a:prstGeom prst="ellipse">
            <a:avLst/>
          </a:prstGeom>
          <a:solidFill>
            <a:srgbClr val="7C4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240280"/>
            <a:ext cx="2798063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302B3A"/>
                </a:solidFill>
                <a:latin typeface="Aptos"/>
              </a:rPr>
              <a:t>5,000 transaction records</a:t>
            </a:r>
          </a:p>
        </p:txBody>
      </p:sp>
      <p:sp>
        <p:nvSpPr>
          <p:cNvPr id="10" name="Oval 9"/>
          <p:cNvSpPr/>
          <p:nvPr/>
        </p:nvSpPr>
        <p:spPr>
          <a:xfrm>
            <a:off x="850392" y="2990088"/>
            <a:ext cx="109728" cy="109728"/>
          </a:xfrm>
          <a:prstGeom prst="ellipse">
            <a:avLst/>
          </a:prstGeom>
          <a:solidFill>
            <a:srgbClr val="7C4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2834640"/>
            <a:ext cx="2798063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302B3A"/>
                </a:solidFill>
                <a:latin typeface="Aptos"/>
              </a:rPr>
              <a:t>18 fields / columns</a:t>
            </a:r>
          </a:p>
        </p:txBody>
      </p:sp>
      <p:sp>
        <p:nvSpPr>
          <p:cNvPr id="12" name="Oval 11"/>
          <p:cNvSpPr/>
          <p:nvPr/>
        </p:nvSpPr>
        <p:spPr>
          <a:xfrm>
            <a:off x="850392" y="3584448"/>
            <a:ext cx="109728" cy="109728"/>
          </a:xfrm>
          <a:prstGeom prst="ellipse">
            <a:avLst/>
          </a:prstGeom>
          <a:solidFill>
            <a:srgbClr val="7C4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429000"/>
            <a:ext cx="2798063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302B3A"/>
                </a:solidFill>
                <a:latin typeface="Aptos"/>
              </a:rPr>
              <a:t>Period: Jan 2023–Mar 2024</a:t>
            </a:r>
          </a:p>
        </p:txBody>
      </p:sp>
      <p:sp>
        <p:nvSpPr>
          <p:cNvPr id="14" name="Oval 13"/>
          <p:cNvSpPr/>
          <p:nvPr/>
        </p:nvSpPr>
        <p:spPr>
          <a:xfrm>
            <a:off x="850392" y="4178808"/>
            <a:ext cx="109728" cy="109728"/>
          </a:xfrm>
          <a:prstGeom prst="ellipse">
            <a:avLst/>
          </a:prstGeom>
          <a:solidFill>
            <a:srgbClr val="7C4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4023360"/>
            <a:ext cx="2798063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302B3A"/>
                </a:solidFill>
                <a:latin typeface="Aptos"/>
              </a:rPr>
              <a:t>Currency: Turkish Lira (TRY)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508760"/>
            <a:ext cx="3429000" cy="338328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4B8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673351"/>
            <a:ext cx="306324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4B8EE6"/>
                </a:solidFill>
                <a:latin typeface="Aptos"/>
              </a:rPr>
              <a:t>IMPORTANT FIELDS</a:t>
            </a:r>
          </a:p>
        </p:txBody>
      </p:sp>
      <p:sp>
        <p:nvSpPr>
          <p:cNvPr id="18" name="Oval 17"/>
          <p:cNvSpPr/>
          <p:nvPr/>
        </p:nvSpPr>
        <p:spPr>
          <a:xfrm>
            <a:off x="4599432" y="2395728"/>
            <a:ext cx="109728" cy="109728"/>
          </a:xfrm>
          <a:prstGeom prst="ellipse">
            <a:avLst/>
          </a:prstGeom>
          <a:solidFill>
            <a:srgbClr val="4B8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18888" y="2240280"/>
            <a:ext cx="2798063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302B3A"/>
                </a:solidFill>
                <a:latin typeface="Aptos"/>
              </a:rPr>
              <a:t>Order and customer IDs</a:t>
            </a:r>
          </a:p>
        </p:txBody>
      </p:sp>
      <p:sp>
        <p:nvSpPr>
          <p:cNvPr id="20" name="Oval 19"/>
          <p:cNvSpPr/>
          <p:nvPr/>
        </p:nvSpPr>
        <p:spPr>
          <a:xfrm>
            <a:off x="4599432" y="2990088"/>
            <a:ext cx="109728" cy="109728"/>
          </a:xfrm>
          <a:prstGeom prst="ellipse">
            <a:avLst/>
          </a:prstGeom>
          <a:solidFill>
            <a:srgbClr val="4B8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18888" y="2834640"/>
            <a:ext cx="2798063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302B3A"/>
                </a:solidFill>
                <a:latin typeface="Aptos"/>
              </a:rPr>
              <a:t>Date, city, gender, age</a:t>
            </a:r>
          </a:p>
        </p:txBody>
      </p:sp>
      <p:sp>
        <p:nvSpPr>
          <p:cNvPr id="22" name="Oval 21"/>
          <p:cNvSpPr/>
          <p:nvPr/>
        </p:nvSpPr>
        <p:spPr>
          <a:xfrm>
            <a:off x="4599432" y="3584448"/>
            <a:ext cx="109728" cy="109728"/>
          </a:xfrm>
          <a:prstGeom prst="ellipse">
            <a:avLst/>
          </a:prstGeom>
          <a:solidFill>
            <a:srgbClr val="4B8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18888" y="3429000"/>
            <a:ext cx="2798063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302B3A"/>
                </a:solidFill>
                <a:latin typeface="Aptos"/>
              </a:rPr>
              <a:t>Product, price, quantity, discount</a:t>
            </a:r>
          </a:p>
        </p:txBody>
      </p:sp>
      <p:sp>
        <p:nvSpPr>
          <p:cNvPr id="24" name="Oval 23"/>
          <p:cNvSpPr/>
          <p:nvPr/>
        </p:nvSpPr>
        <p:spPr>
          <a:xfrm>
            <a:off x="4599432" y="4178808"/>
            <a:ext cx="109728" cy="109728"/>
          </a:xfrm>
          <a:prstGeom prst="ellipse">
            <a:avLst/>
          </a:prstGeom>
          <a:solidFill>
            <a:srgbClr val="4B8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18888" y="4023360"/>
            <a:ext cx="2798063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302B3A"/>
                </a:solidFill>
                <a:latin typeface="Aptos"/>
              </a:rPr>
              <a:t>Device, payment, rating, delivery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1508760"/>
            <a:ext cx="3429000" cy="338328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48B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1673351"/>
            <a:ext cx="306324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48B5AA"/>
                </a:solidFill>
                <a:latin typeface="Aptos"/>
              </a:rPr>
              <a:t>WORKFLOW</a:t>
            </a:r>
          </a:p>
        </p:txBody>
      </p:sp>
      <p:sp>
        <p:nvSpPr>
          <p:cNvPr id="28" name="Oval 27"/>
          <p:cNvSpPr/>
          <p:nvPr/>
        </p:nvSpPr>
        <p:spPr>
          <a:xfrm>
            <a:off x="8348472" y="2395728"/>
            <a:ext cx="109728" cy="109728"/>
          </a:xfrm>
          <a:prstGeom prst="ellipse">
            <a:avLst/>
          </a:prstGeom>
          <a:solidFill>
            <a:srgbClr val="48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67928" y="2240280"/>
            <a:ext cx="2798063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302B3A"/>
                </a:solidFill>
                <a:latin typeface="Aptos"/>
              </a:rPr>
              <a:t>Imported CSV into Power BI</a:t>
            </a:r>
          </a:p>
        </p:txBody>
      </p:sp>
      <p:sp>
        <p:nvSpPr>
          <p:cNvPr id="30" name="Oval 29"/>
          <p:cNvSpPr/>
          <p:nvPr/>
        </p:nvSpPr>
        <p:spPr>
          <a:xfrm>
            <a:off x="8348472" y="2990088"/>
            <a:ext cx="109728" cy="109728"/>
          </a:xfrm>
          <a:prstGeom prst="ellipse">
            <a:avLst/>
          </a:prstGeom>
          <a:solidFill>
            <a:srgbClr val="48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67928" y="2834640"/>
            <a:ext cx="2798063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302B3A"/>
                </a:solidFill>
                <a:latin typeface="Aptos"/>
              </a:rPr>
              <a:t>Removed duplicate query</a:t>
            </a:r>
          </a:p>
        </p:txBody>
      </p:sp>
      <p:sp>
        <p:nvSpPr>
          <p:cNvPr id="32" name="Oval 31"/>
          <p:cNvSpPr/>
          <p:nvPr/>
        </p:nvSpPr>
        <p:spPr>
          <a:xfrm>
            <a:off x="8348472" y="3584448"/>
            <a:ext cx="109728" cy="109728"/>
          </a:xfrm>
          <a:prstGeom prst="ellipse">
            <a:avLst/>
          </a:prstGeom>
          <a:solidFill>
            <a:srgbClr val="48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67928" y="3429000"/>
            <a:ext cx="2798063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302B3A"/>
                </a:solidFill>
                <a:latin typeface="Aptos"/>
              </a:rPr>
              <a:t>Removed blank rows</a:t>
            </a:r>
          </a:p>
        </p:txBody>
      </p:sp>
      <p:sp>
        <p:nvSpPr>
          <p:cNvPr id="34" name="Oval 33"/>
          <p:cNvSpPr/>
          <p:nvPr/>
        </p:nvSpPr>
        <p:spPr>
          <a:xfrm>
            <a:off x="8348472" y="4178808"/>
            <a:ext cx="109728" cy="109728"/>
          </a:xfrm>
          <a:prstGeom prst="ellipse">
            <a:avLst/>
          </a:prstGeom>
          <a:solidFill>
            <a:srgbClr val="48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67928" y="4023360"/>
            <a:ext cx="2798063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302B3A"/>
                </a:solidFill>
                <a:latin typeface="Aptos"/>
              </a:rPr>
              <a:t>Created measures and visuals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349240"/>
            <a:ext cx="1051560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6F677D"/>
                </a:solidFill>
                <a:latin typeface="Aptos"/>
              </a:rPr>
              <a:t>Note: Dataset figures and descriptions should be checked against the final imported file before submission.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4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2B204C"/>
                </a:solidFill>
                <a:latin typeface="Aptos"/>
              </a:rPr>
              <a:t>3. KPI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100" b="0">
                <a:solidFill>
                  <a:srgbClr val="6F677D"/>
                </a:solidFill>
                <a:latin typeface="Aptos"/>
              </a:rPr>
              <a:t>Key measures shown on the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F677D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1546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4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00200"/>
            <a:ext cx="2935224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6F677D"/>
                </a:solidFill>
                <a:latin typeface="Aptos"/>
              </a:rPr>
              <a:t>TOTAL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01952"/>
            <a:ext cx="2935224" cy="7955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300" b="1">
                <a:solidFill>
                  <a:srgbClr val="7C4DB4"/>
                </a:solidFill>
                <a:latin typeface="Aptos"/>
              </a:rPr>
              <a:t>4.92M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508760"/>
            <a:ext cx="31546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B8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0248" y="1600200"/>
            <a:ext cx="2935224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6F677D"/>
                </a:solidFill>
                <a:latin typeface="Aptos"/>
              </a:rPr>
              <a:t>TOTAL 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0248" y="1901952"/>
            <a:ext cx="2935224" cy="7955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300" b="1">
                <a:solidFill>
                  <a:srgbClr val="4B8EE6"/>
                </a:solidFill>
                <a:latin typeface="Aptos"/>
              </a:rPr>
              <a:t>5K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508760"/>
            <a:ext cx="31546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8B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4967" y="1600200"/>
            <a:ext cx="2935224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6F677D"/>
                </a:solidFill>
                <a:latin typeface="Aptos"/>
              </a:rPr>
              <a:t>TOTAL 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4967" y="1901952"/>
            <a:ext cx="2935224" cy="7955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300" b="1">
                <a:solidFill>
                  <a:srgbClr val="48B5AA"/>
                </a:solidFill>
                <a:latin typeface="Aptos"/>
              </a:rPr>
              <a:t>5K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46120"/>
            <a:ext cx="31546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B0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337560"/>
            <a:ext cx="2935224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6F677D"/>
                </a:solidFill>
                <a:latin typeface="Aptos"/>
              </a:rPr>
              <a:t>AVERAGE ORDER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639312"/>
            <a:ext cx="2935224" cy="7955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300" b="1">
                <a:solidFill>
                  <a:srgbClr val="F6B061"/>
                </a:solidFill>
                <a:latin typeface="Aptos"/>
              </a:rPr>
              <a:t>983.11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3246120"/>
            <a:ext cx="31546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56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0248" y="3337560"/>
            <a:ext cx="2935224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6F677D"/>
                </a:solidFill>
                <a:latin typeface="Aptos"/>
              </a:rPr>
              <a:t>RETURNING CUSTOMER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3639312"/>
            <a:ext cx="2935224" cy="7955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300" b="1">
                <a:solidFill>
                  <a:srgbClr val="D5639D"/>
                </a:solidFill>
                <a:latin typeface="Aptos"/>
              </a:rPr>
              <a:t>59.80%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3246120"/>
            <a:ext cx="31546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17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4967" y="3337560"/>
            <a:ext cx="2935224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6F677D"/>
                </a:solidFill>
                <a:latin typeface="Aptos"/>
              </a:rPr>
              <a:t>AVERAGE RATING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4967" y="3639312"/>
            <a:ext cx="2935224" cy="7955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300" b="1">
                <a:solidFill>
                  <a:srgbClr val="7177D1"/>
                </a:solidFill>
                <a:latin typeface="Aptos"/>
              </a:rPr>
              <a:t>3.90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166360"/>
            <a:ext cx="10424160" cy="6400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0">
                <a:solidFill>
                  <a:srgbClr val="6F677D"/>
                </a:solidFill>
                <a:latin typeface="Aptos"/>
              </a:rPr>
              <a:t>KPIs summarise overall performance. Values are taken from the current dashboard and may change when filters are applied.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4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2B204C"/>
                </a:solidFill>
                <a:latin typeface="Aptos"/>
              </a:rPr>
              <a:t>4. Dashboard Visuals &amp; Interactivity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100" b="0">
                <a:solidFill>
                  <a:srgbClr val="6F677D"/>
                </a:solidFill>
                <a:latin typeface="Aptos"/>
              </a:rPr>
              <a:t>How the dashboard helps users explore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F677D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69848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4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90472"/>
            <a:ext cx="310896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7C4DB4"/>
                </a:solidFill>
                <a:latin typeface="Aptos"/>
              </a:rPr>
              <a:t>Monthly Sales Trend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490472"/>
            <a:ext cx="70408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0">
                <a:solidFill>
                  <a:srgbClr val="302B3A"/>
                </a:solidFill>
                <a:latin typeface="Aptos"/>
              </a:rPr>
              <a:t>Tracks changes in sales across the timeline.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41448"/>
            <a:ext cx="1069848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B8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514600"/>
            <a:ext cx="310896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4B8EE6"/>
                </a:solidFill>
                <a:latin typeface="Aptos"/>
              </a:rPr>
              <a:t>Sales by Product Category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514600"/>
            <a:ext cx="70408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0">
                <a:solidFill>
                  <a:srgbClr val="302B3A"/>
                </a:solidFill>
                <a:latin typeface="Aptos"/>
              </a:rPr>
              <a:t>Compares category-level sales; Electronics is the largest bar in the current 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65576"/>
            <a:ext cx="1069848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8B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38728"/>
            <a:ext cx="310896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48B5AA"/>
                </a:solidFill>
                <a:latin typeface="Aptos"/>
              </a:rPr>
              <a:t>Sales by 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538728"/>
            <a:ext cx="70408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0">
                <a:solidFill>
                  <a:srgbClr val="302B3A"/>
                </a:solidFill>
                <a:latin typeface="Aptos"/>
              </a:rPr>
              <a:t>Highlights differences between city sales; Istanbul is the largest bar in the current view.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89704"/>
            <a:ext cx="1069848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6B0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562856"/>
            <a:ext cx="310896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F6B061"/>
                </a:solidFill>
                <a:latin typeface="Aptos"/>
              </a:rPr>
              <a:t>Orders by Device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4562856"/>
            <a:ext cx="70408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0">
                <a:solidFill>
                  <a:srgbClr val="302B3A"/>
                </a:solidFill>
                <a:latin typeface="Aptos"/>
              </a:rPr>
              <a:t>Compares Mobile, Desktop and Tablet order counts; Mobile is highest in the current view.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715000"/>
            <a:ext cx="1033272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2B204C"/>
                </a:solidFill>
                <a:latin typeface="Aptos"/>
              </a:rPr>
              <a:t>Filters: City • Gender • Device Type • Product Category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4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2B204C"/>
                </a:solidFill>
                <a:latin typeface="Aptos"/>
              </a:rPr>
              <a:t>5. Insights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100" b="0">
                <a:solidFill>
                  <a:srgbClr val="6F677D"/>
                </a:solidFill>
                <a:latin typeface="Aptos"/>
              </a:rPr>
              <a:t>Use the visuals to guide further investigation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900" b="0">
                <a:solidFill>
                  <a:srgbClr val="6F677D"/>
                </a:solidFill>
                <a:latin typeface="Aptos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512064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7C4DB4"/>
                </a:solidFill>
                <a:latin typeface="Aptos"/>
              </a:rPr>
              <a:t>OBSERVATIONS FROM THE CURRENT VIEW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938528"/>
            <a:ext cx="109728" cy="109728"/>
          </a:xfrm>
          <a:prstGeom prst="ellipse">
            <a:avLst/>
          </a:prstGeom>
          <a:solidFill>
            <a:srgbClr val="7C4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783080"/>
            <a:ext cx="5084064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0">
                <a:solidFill>
                  <a:srgbClr val="302B3A"/>
                </a:solidFill>
                <a:latin typeface="Aptos"/>
              </a:rPr>
              <a:t>Electronics leads category sales in the current view.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688336"/>
            <a:ext cx="109728" cy="109728"/>
          </a:xfrm>
          <a:prstGeom prst="ellipse">
            <a:avLst/>
          </a:prstGeom>
          <a:solidFill>
            <a:srgbClr val="4B8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532888"/>
            <a:ext cx="5084064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0">
                <a:solidFill>
                  <a:srgbClr val="302B3A"/>
                </a:solidFill>
                <a:latin typeface="Aptos"/>
              </a:rPr>
              <a:t>Istanbul has the highest sales bar among displayed cities.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438144"/>
            <a:ext cx="109728" cy="109728"/>
          </a:xfrm>
          <a:prstGeom prst="ellipse">
            <a:avLst/>
          </a:prstGeom>
          <a:solidFill>
            <a:srgbClr val="48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282696"/>
            <a:ext cx="5084064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0">
                <a:solidFill>
                  <a:srgbClr val="302B3A"/>
                </a:solidFill>
                <a:latin typeface="Aptos"/>
              </a:rPr>
              <a:t>Mobile accounts for the most orders across device types.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187952"/>
            <a:ext cx="109728" cy="109728"/>
          </a:xfrm>
          <a:prstGeom prst="ellipse">
            <a:avLst/>
          </a:prstGeom>
          <a:solidFill>
            <a:srgbClr val="F6B0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4032504"/>
            <a:ext cx="5084064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0">
                <a:solidFill>
                  <a:srgbClr val="302B3A"/>
                </a:solidFill>
                <a:latin typeface="Aptos"/>
              </a:rPr>
              <a:t>The dashboard reports a 3.90 average customer rating.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325880"/>
            <a:ext cx="49377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7C4DB4"/>
                </a:solidFill>
                <a:latin typeface="Aptos"/>
              </a:rPr>
              <a:t>RECOMMENDATIONS</a:t>
            </a:r>
          </a:p>
        </p:txBody>
      </p:sp>
      <p:sp>
        <p:nvSpPr>
          <p:cNvPr id="16" name="Oval 15"/>
          <p:cNvSpPr/>
          <p:nvPr/>
        </p:nvSpPr>
        <p:spPr>
          <a:xfrm>
            <a:off x="6355080" y="1938528"/>
            <a:ext cx="109728" cy="109728"/>
          </a:xfrm>
          <a:prstGeom prst="ellipse">
            <a:avLst/>
          </a:prstGeom>
          <a:solidFill>
            <a:srgbClr val="7C4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74536" y="1783080"/>
            <a:ext cx="4855464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0">
                <a:solidFill>
                  <a:srgbClr val="302B3A"/>
                </a:solidFill>
                <a:latin typeface="Aptos"/>
              </a:rPr>
              <a:t>Review stock and promotions for high-performing categories.</a:t>
            </a:r>
          </a:p>
        </p:txBody>
      </p:sp>
      <p:sp>
        <p:nvSpPr>
          <p:cNvPr id="18" name="Oval 17"/>
          <p:cNvSpPr/>
          <p:nvPr/>
        </p:nvSpPr>
        <p:spPr>
          <a:xfrm>
            <a:off x="6355080" y="2688336"/>
            <a:ext cx="109728" cy="109728"/>
          </a:xfrm>
          <a:prstGeom prst="ellipse">
            <a:avLst/>
          </a:prstGeom>
          <a:solidFill>
            <a:srgbClr val="4B8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2532888"/>
            <a:ext cx="4855464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0">
                <a:solidFill>
                  <a:srgbClr val="302B3A"/>
                </a:solidFill>
                <a:latin typeface="Aptos"/>
              </a:rPr>
              <a:t>Study city-level demand before planning local campaigns.</a:t>
            </a:r>
          </a:p>
        </p:txBody>
      </p:sp>
      <p:sp>
        <p:nvSpPr>
          <p:cNvPr id="20" name="Oval 19"/>
          <p:cNvSpPr/>
          <p:nvPr/>
        </p:nvSpPr>
        <p:spPr>
          <a:xfrm>
            <a:off x="6355080" y="3438144"/>
            <a:ext cx="109728" cy="109728"/>
          </a:xfrm>
          <a:prstGeom prst="ellipse">
            <a:avLst/>
          </a:prstGeom>
          <a:solidFill>
            <a:srgbClr val="48B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74536" y="3282696"/>
            <a:ext cx="4855464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0">
                <a:solidFill>
                  <a:srgbClr val="302B3A"/>
                </a:solidFill>
                <a:latin typeface="Aptos"/>
              </a:rPr>
              <a:t>Make the mobile shopping journey fast and easy to use.</a:t>
            </a:r>
          </a:p>
        </p:txBody>
      </p:sp>
      <p:sp>
        <p:nvSpPr>
          <p:cNvPr id="22" name="Oval 21"/>
          <p:cNvSpPr/>
          <p:nvPr/>
        </p:nvSpPr>
        <p:spPr>
          <a:xfrm>
            <a:off x="6355080" y="4187952"/>
            <a:ext cx="109728" cy="109728"/>
          </a:xfrm>
          <a:prstGeom prst="ellipse">
            <a:avLst/>
          </a:prstGeom>
          <a:solidFill>
            <a:srgbClr val="F6B0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74536" y="4032504"/>
            <a:ext cx="4855464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0">
                <a:solidFill>
                  <a:srgbClr val="302B3A"/>
                </a:solidFill>
                <a:latin typeface="Aptos"/>
              </a:rPr>
              <a:t>Compare ratings and delivery times to identify service gaps.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257800"/>
            <a:ext cx="10607040" cy="713232"/>
          </a:xfrm>
          <a:prstGeom prst="roundRect">
            <a:avLst/>
          </a:prstGeom>
          <a:solidFill>
            <a:srgbClr val="F1E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376672"/>
            <a:ext cx="1024128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2B204C"/>
                </a:solidFill>
                <a:latin typeface="Aptos"/>
              </a:rPr>
              <a:t>Conclusion: Power BI makes key business patterns easier to see and discuss. Findings describe associations, not proof of cause and effect.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